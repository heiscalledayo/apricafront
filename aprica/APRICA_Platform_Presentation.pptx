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033772"/>
            <a:ext cx="64008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0"/>
            <a:ext cx="64008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033772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6" name="Shape 4"/>
          <p:cNvSpPr/>
          <p:nvPr/>
        </p:nvSpPr>
        <p:spPr>
          <a:xfrm>
            <a:off x="2103120" y="0"/>
            <a:ext cx="64008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5033772"/>
            <a:ext cx="64008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0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3772"/>
            <a:ext cx="64008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0"/>
            <a:ext cx="64008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5033772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0"/>
            <a:ext cx="64008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5033772"/>
            <a:ext cx="64008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0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5033772"/>
            <a:ext cx="64008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0"/>
            <a:ext cx="64008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5033772"/>
            <a:ext cx="64008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365760"/>
            <a:ext cx="3474720" cy="3474720"/>
          </a:xfrm>
          <a:prstGeom prst="ellipse">
            <a:avLst/>
          </a:prstGeom>
          <a:solidFill>
            <a:srgbClr val="006B3C">
              <a:alpha val="12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731520"/>
            <a:ext cx="2743200" cy="2743200"/>
          </a:xfrm>
          <a:prstGeom prst="ellipse">
            <a:avLst/>
          </a:prstGeom>
          <a:solidFill>
            <a:srgbClr val="FCD116">
              <a:alpha val="8000"/>
            </a:srgbClr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457200" y="914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APRICA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45720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 AI Platform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2697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African Voices — Speech to Text · Text to Speech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· Chatbot · Video Dubbing · Document Processing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920240" cy="402336"/>
          </a:xfrm>
          <a:prstGeom prst="rect">
            <a:avLst>
              <a:gd name="adj" fmla="val 22727"/>
            </a:avLst>
          </a:prstGeom>
          <a:solidFill>
            <a:srgbClr val="006B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Pidgin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3840480"/>
            <a:ext cx="1920240" cy="402336"/>
          </a:xfrm>
          <a:prstGeom prst="rect">
            <a:avLst>
              <a:gd name="adj" fmla="val 22727"/>
            </a:avLst>
          </a:prstGeom>
          <a:solidFill>
            <a:srgbClr val="FCD11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840480"/>
            <a:ext cx="1920240" cy="402336"/>
          </a:xfrm>
          <a:prstGeom prst="rect">
            <a:avLst>
              <a:gd name="adj" fmla="val 22727"/>
            </a:avLst>
          </a:prstGeom>
          <a:solidFill>
            <a:srgbClr val="CE112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3840480"/>
            <a:ext cx="1920240" cy="402336"/>
          </a:xfrm>
          <a:prstGeom prst="rect">
            <a:avLst>
              <a:gd name="adj" fmla="val 22727"/>
            </a:avLst>
          </a:prstGeom>
          <a:solidFill>
            <a:srgbClr val="006B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294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Digital Language Divide Across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0A1A0C"/>
          </a:solidFill>
          <a:ln w="25400">
            <a:solidFill>
              <a:srgbClr val="CE11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23360" cy="1828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Over 2,000 African languages largely absent from AI tools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Digital content overwhelmingly in English &amp; French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African professionals lose business to language barriers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Cultural nuance is lost in generic translation tools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authentic African voice options in TTS systems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0A1A0C"/>
          </a:solidFill>
          <a:ln w="2540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APRICA's Mission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1828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translation for 4 major African languages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Authentic African voice synthesis (male &amp; female)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Nigerian, British, American accent options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End-to-end: text, documents, audio, video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Culturally-aware AI chatbot for African contexts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powerful tools, one unified African language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36576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16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Translation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translation with cultural nuance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14300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143000"/>
            <a:ext cx="2743200" cy="36576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216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04488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Translation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04488" y="16002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URL/webpage translation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114300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143000"/>
            <a:ext cx="2743200" cy="36576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216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48856" y="1234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Translation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48856" y="16002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77440"/>
            <a:ext cx="2743200" cy="36576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450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Summary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28346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+ chapter summaries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37744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2377440"/>
            <a:ext cx="2743200" cy="36576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2450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04488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to Speech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04488" y="28346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African &amp; international voices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237744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2377440"/>
            <a:ext cx="2743200" cy="36576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2450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48856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to Text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48856" y="28346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Whisper-powered transcription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61188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611880"/>
            <a:ext cx="2743200" cy="36576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60120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Translation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60120" y="40690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and hear instantly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10128" y="361188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10128" y="3611880"/>
            <a:ext cx="2743200" cy="36576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2" name="Text 40"/>
          <p:cNvSpPr/>
          <p:nvPr/>
        </p:nvSpPr>
        <p:spPr>
          <a:xfrm>
            <a:off x="3310128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904488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Translation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904488" y="40690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video dubbing pipeline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54496" y="3611880"/>
            <a:ext cx="2743200" cy="1078992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54496" y="3611880"/>
            <a:ext cx="2743200" cy="36576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7" name="Text 45"/>
          <p:cNvSpPr/>
          <p:nvPr/>
        </p:nvSpPr>
        <p:spPr>
          <a:xfrm>
            <a:off x="6254496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6848856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848856" y="40690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Culturally-aware multilingual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 &amp; Voices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20116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4572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🇳🇬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Nigerian Pidgin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67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Naija Pidgin — West Africa's most widely spoken creole. Over 75M speakers.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20116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14400"/>
            <a:ext cx="2011680" cy="4572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🟡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Yoruba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167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West Africa's major languages. 45M+ native speakers across Nigeria, Benin, Togo.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2011680" cy="20116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2011680" cy="457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🔴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Hausa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167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spoken language in West Africa. 70M+ speakers across Nigeria, Niger, Ghana.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2011680" cy="20116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914400"/>
            <a:ext cx="2011680" cy="45720"/>
          </a:xfrm>
          <a:prstGeom prst="rect">
            <a:avLst/>
          </a:prstGeom>
          <a:solidFill>
            <a:srgbClr val="00A85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Swahili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2167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franca of East/Central Africa. 200M+ speakers across 14 countries.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063240"/>
            <a:ext cx="8595360" cy="36576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Voice Accents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👩🏿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7432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African Female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3736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73736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👨🏿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73736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3736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Male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0040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👩🏾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320040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Chioma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Female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👨🏾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66344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Emeka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Male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2648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🇬🇧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12648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2648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Male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89520" y="3566160"/>
            <a:ext cx="1325880" cy="1280160"/>
          </a:xfrm>
          <a:prstGeom prst="rect">
            <a:avLst/>
          </a:prstGeom>
          <a:solidFill>
            <a:srgbClr val="0A1A0C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589520" y="359359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🇺🇸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58952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89520" y="4443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Female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APRICA is transformative for African digital inclusion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5272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Cultural Authenticity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5636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African cultural contexts, idioms, and expressions — not generic translations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25272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🔊  African Voice Synthesis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49240" y="15636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African voices (Amara, Kwame, Chioma, Emeka) with authentic accents rarely seen in 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48716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Real-Time Processing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2798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text translation, TTS, and transcription powered by GPT-4o and Whisper APIs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7744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48716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All-in-One Platform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49240" y="2798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integrated tools: text, web, docs, books, audio, video, chatbot — no need for multiple apps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1188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1188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72160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Video Dubbing Pipeline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video translation: transcribe → translate → generate dubbed audio. Unique in African AI space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611880"/>
            <a:ext cx="4160520" cy="1078992"/>
          </a:xfrm>
          <a:prstGeom prst="rect">
            <a:avLst/>
          </a:prstGeom>
          <a:solidFill>
            <a:srgbClr val="081208"/>
          </a:solidFill>
          <a:ln w="19050">
            <a:solidFill>
              <a:srgbClr val="00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11880"/>
            <a:ext cx="54864" cy="107899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3721608"/>
            <a:ext cx="411480" cy="411480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Business Ready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49240" y="40325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translation, book summaries, and professional-grade output for companies and professionals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Considerations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02336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E1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Current Considerations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API Costs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367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&amp; ElevenLabs APIs have usage costs. Budget planning required for scale.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Dialect Depth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languages have hundreds of dialects. Current scope covers major variants.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368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Audio Latency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generation takes 2-5 seconds depending on text length.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8437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Video Size Limits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files currently limited to 50MB. Large productions need chunking.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3192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Connectivity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for all AI API calls. Offline mode not yet available.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914400"/>
            <a:ext cx="4023360" cy="402336"/>
          </a:xfrm>
          <a:prstGeom prst="rect">
            <a:avLst/>
          </a:prstGeom>
          <a:solidFill>
            <a:srgbClr val="081C1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14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Product Roadmap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44752"/>
            <a:ext cx="347472" cy="347472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49240" y="1563624"/>
            <a:ext cx="3383280" cy="18288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23" name="Text 21"/>
          <p:cNvSpPr/>
          <p:nvPr/>
        </p:nvSpPr>
        <p:spPr>
          <a:xfrm>
            <a:off x="5376672" y="142646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African languages (Igbo, Amharic, Zulu, Wolof...)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56048" y="1920240"/>
            <a:ext cx="347472" cy="347472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49240" y="2039112"/>
            <a:ext cx="3383280" cy="18288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19019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(iOS &amp; Android) with offline mode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2395728"/>
            <a:ext cx="347472" cy="347472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49240" y="2514600"/>
            <a:ext cx="3383280" cy="18288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23774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call translation &amp; live captioning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2871216"/>
            <a:ext cx="347472" cy="347472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49240" y="2990088"/>
            <a:ext cx="3383280" cy="18288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28529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African voice cloning (train your own voice)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56048" y="3346704"/>
            <a:ext cx="347472" cy="347472"/>
          </a:xfrm>
          <a:prstGeom prst="ellipse">
            <a:avLst/>
          </a:prstGeom>
          <a:solidFill>
            <a:srgbClr val="006B3C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49240" y="3465576"/>
            <a:ext cx="3383280" cy="18288"/>
          </a:xfrm>
          <a:prstGeom prst="rect">
            <a:avLst/>
          </a:prstGeom>
          <a:solidFill>
            <a:srgbClr val="2D4A2F"/>
          </a:solidFill>
          <a:ln/>
        </p:spPr>
      </p:sp>
      <p:sp>
        <p:nvSpPr>
          <p:cNvPr id="39" name="Text 37"/>
          <p:cNvSpPr/>
          <p:nvPr/>
        </p:nvSpPr>
        <p:spPr>
          <a:xfrm>
            <a:off x="5376672" y="3328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 for businesses, NGOs, and governments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45920" cy="914400"/>
          </a:xfrm>
          <a:prstGeom prst="rect">
            <a:avLst/>
          </a:prstGeom>
          <a:solidFill>
            <a:srgbClr val="006B3C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(Text/Audio/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Video/File)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1645920" cy="914400"/>
          </a:xfrm>
          <a:prstGeom prst="rect">
            <a:avLst/>
          </a:prstGeom>
          <a:solidFill>
            <a:srgbClr val="1A3A1F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0972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731520"/>
            <a:ext cx="1645920" cy="914400"/>
          </a:xfrm>
          <a:prstGeom prst="rect">
            <a:avLst/>
          </a:prstGeom>
          <a:solidFill>
            <a:srgbClr val="1A1A3A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731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(Translation/Chat)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1645920" cy="914400"/>
          </a:xfrm>
          <a:prstGeom prst="rect">
            <a:avLst/>
          </a:prstGeom>
          <a:solidFill>
            <a:srgbClr val="1A1A3A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3291840"/>
            <a:ext cx="1645920" cy="914400"/>
          </a:xfrm>
          <a:prstGeom prst="rect">
            <a:avLst/>
          </a:prstGeom>
          <a:solidFill>
            <a:srgbClr val="1A1A3A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468880" cy="914400"/>
          </a:xfrm>
          <a:prstGeom prst="rect">
            <a:avLst/>
          </a:prstGeom>
          <a:solidFill>
            <a:srgbClr val="006B3C"/>
          </a:solidFill>
          <a:ln w="1905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097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(Translated Text / Audio / Video)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1572768"/>
            <a:ext cx="365760" cy="0"/>
          </a:xfrm>
          <a:prstGeom prst="line">
            <a:avLst/>
          </a:prstGeom>
          <a:noFill/>
          <a:ln w="25400">
            <a:solidFill>
              <a:srgbClr val="FCD1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188720"/>
            <a:ext cx="365760" cy="0"/>
          </a:xfrm>
          <a:prstGeom prst="line">
            <a:avLst/>
          </a:prstGeom>
          <a:noFill/>
          <a:ln w="25400">
            <a:solidFill>
              <a:srgbClr val="FCD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487168"/>
            <a:ext cx="365760" cy="0"/>
          </a:xfrm>
          <a:prstGeom prst="line">
            <a:avLst/>
          </a:prstGeom>
          <a:noFill/>
          <a:ln w="25400">
            <a:solidFill>
              <a:srgbClr val="FCD1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3767328"/>
            <a:ext cx="365760" cy="0"/>
          </a:xfrm>
          <a:prstGeom prst="line">
            <a:avLst/>
          </a:prstGeom>
          <a:noFill/>
          <a:ln w="25400">
            <a:solidFill>
              <a:srgbClr val="FCD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72768"/>
            <a:ext cx="457200" cy="0"/>
          </a:xfrm>
          <a:prstGeom prst="line">
            <a:avLst/>
          </a:prstGeom>
          <a:noFill/>
          <a:ln w="25400">
            <a:solidFill>
              <a:srgbClr val="FCD1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6344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87168" y="466344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466344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0016" y="466344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466344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12864" y="466344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466344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93776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3776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493776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87168" y="493776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0016" y="4937760"/>
            <a:ext cx="2057400" cy="246888"/>
          </a:xfrm>
          <a:prstGeom prst="rect">
            <a:avLst/>
          </a:prstGeom>
          <a:solidFill>
            <a:srgbClr val="006B3C">
              <a:alpha val="20000"/>
            </a:srgbClr>
          </a:solidFill>
          <a:ln w="12700">
            <a:solidFill>
              <a:srgbClr val="006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493776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moviepy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Impact &amp;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141732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011680" cy="36576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well-served by AI today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2888" y="914400"/>
            <a:ext cx="2011680" cy="141732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914400"/>
            <a:ext cx="2011680" cy="36576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32888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Africans by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920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digital audience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45736" y="914400"/>
            <a:ext cx="2011680" cy="141732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914400"/>
            <a:ext cx="2011680" cy="36576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45736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45736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Digital Economy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1920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2025 (IFC projection)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58584" y="914400"/>
            <a:ext cx="2011680" cy="141732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58584" y="914400"/>
            <a:ext cx="2011680" cy="36576"/>
          </a:xfrm>
          <a:prstGeom prst="rect">
            <a:avLst/>
          </a:prstGeom>
          <a:solidFill>
            <a:srgbClr val="00A855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75M+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58584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Pidgin Speakers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58584" y="1920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primary market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 Cases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1627632" cy="182880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29718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0040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business docs, emails, contracts to local languages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84832" y="2926080"/>
            <a:ext cx="1627632" cy="182880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84832" y="29718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084832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76272" y="3858768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 and broadcasts in African languages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9624" y="2926080"/>
            <a:ext cx="1627632" cy="182880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49624" y="29718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849624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41064" y="3858768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communication in mother tongue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14416" y="2926080"/>
            <a:ext cx="1627632" cy="182880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14416" y="29718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5614416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05856" y="3858768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materials in Yoruba, Hausa, Swahili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79208" y="2926080"/>
            <a:ext cx="1627632" cy="1828800"/>
          </a:xfrm>
          <a:prstGeom prst="rect">
            <a:avLst/>
          </a:prstGeom>
          <a:solidFill>
            <a:srgbClr val="132215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79208" y="29718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379208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70648" y="3858768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delivery in local languages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presentation guide for your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APRICA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4264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Go to http://localhost:5000 — show the dashboard with all 9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1521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Translation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94960" y="14264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Type 'Good morning, how are you?' → translate to Nigerian Pidgin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057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1122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Translation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238658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Enter bbc.com/news — show a live webpage translated to Yoruba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057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1122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to Speech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238658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 Chioma (Nigerian Female) → generate speech from Pidgin 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017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0723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to Text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33467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Record yourself speaking → show the live Whisper transcript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17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0723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Translation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94960" y="33467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Enter English text → hear it translated to Hausa in Kwame's voice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7764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977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0325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4400" y="43068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Switch to Swahili → ask 'Habari za Afrika?' → show cultural response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4160520" cy="822960"/>
          </a:xfrm>
          <a:prstGeom prst="rect">
            <a:avLst/>
          </a:prstGeom>
          <a:solidFill>
            <a:srgbClr val="081208"/>
          </a:solidFill>
          <a:ln w="12700">
            <a:solidFill>
              <a:srgbClr val="2D4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77640"/>
            <a:ext cx="548640" cy="822960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977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40325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Upload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94960" y="43068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Upload a PDF → translate to Yoruba → show structured output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9456"/>
            <a:ext cx="914400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19472"/>
            <a:ext cx="9144000" cy="73152"/>
          </a:xfrm>
          <a:prstGeom prst="rect">
            <a:avLst/>
          </a:prstGeom>
          <a:solidFill>
            <a:srgbClr val="006B3C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92624"/>
            <a:ext cx="9144000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572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🌍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African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Technology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Here. It Speaks Your Language.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APRICA — African Language AI Platform  |  aprica.ai  |  Built with ❤️ for Africa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solidFill>
            <a:srgbClr val="006B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Get Started Today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APRICA - African Language AI Platform</dc:title>
  <dc:subject>PptxGenJS Presentation</dc:subject>
  <dc:creator>APRICA Team</dc:creator>
  <cp:lastModifiedBy>APRICA Team</cp:lastModifiedBy>
  <cp:revision>1</cp:revision>
  <dcterms:created xsi:type="dcterms:W3CDTF">2026-03-13T11:33:12Z</dcterms:created>
  <dcterms:modified xsi:type="dcterms:W3CDTF">2026-03-13T11:33:12Z</dcterms:modified>
</cp:coreProperties>
</file>