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54864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280160"/>
            <a:ext cx="7315200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00584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APRICA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00584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00875A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06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AB00"/>
                </a:solidFill>
                <a:latin typeface="Calibri"/>
              </a:rPr>
              <a:t>African AI Language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BBBBB"/>
                </a:solidFill>
                <a:latin typeface="Calibri"/>
              </a:rPr>
              <a:t>Transforming African Voices into the Digital 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4023360"/>
            <a:ext cx="2286000" cy="457200"/>
          </a:xfrm>
          <a:prstGeom prst="rect">
            <a:avLst/>
          </a:prstGeom>
          <a:solidFill>
            <a:srgbClr val="004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404164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🇳🇬 Yoruba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4023360"/>
            <a:ext cx="2286000" cy="457200"/>
          </a:xfrm>
          <a:prstGeom prst="rect">
            <a:avLst/>
          </a:prstGeom>
          <a:solidFill>
            <a:srgbClr val="004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59" y="404164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🇳🇬 Hausa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4023360"/>
            <a:ext cx="2286000" cy="457200"/>
          </a:xfrm>
          <a:prstGeom prst="rect">
            <a:avLst/>
          </a:prstGeom>
          <a:solidFill>
            <a:srgbClr val="004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79" y="404164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🇰🇪 Swahili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23959" y="4023360"/>
            <a:ext cx="2286000" cy="457200"/>
          </a:xfrm>
          <a:prstGeom prst="rect">
            <a:avLst/>
          </a:prstGeom>
          <a:solidFill>
            <a:srgbClr val="004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399" y="404164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🇳🇬 Nigerian Pidgin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760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Powered by GPT-4o · OpenAI Whisper · ElevenLabs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AB00"/>
                </a:solidFill>
                <a:latin typeface="Calibri"/>
              </a:rPr>
              <a:t>Africa's 2,000+ languages are invisible in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303520" cy="192024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916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Digital Exclusion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148840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BBB"/>
                </a:solidFill>
                <a:latin typeface="Calibri"/>
              </a:rPr>
              <a:t>90% of AI tools work in English. 1.4B Africans are excluded from AI advancements.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303520" cy="192024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6916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No Native Interfaces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148840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BBB"/>
                </a:solidFill>
                <a:latin typeface="Calibri"/>
              </a:rPr>
              <a:t>Existing platforms don't support Yoruba, Hausa, Swahili, or Nigerian Pidgin natively.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57600"/>
            <a:ext cx="5303520" cy="192024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404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8862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Voice Gaps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343400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BBB"/>
                </a:solidFill>
                <a:latin typeface="Calibri"/>
              </a:rPr>
              <a:t>No high-quality text-to-speech or transcription for African languages and accents.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657600"/>
            <a:ext cx="5303520" cy="192024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8404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8862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Business Barriers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343400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BBB"/>
                </a:solidFill>
                <a:latin typeface="Calibri"/>
              </a:rPr>
              <a:t>Companies can't translate documents, websites or videos into African languages at scale.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solidFill>
            <a:srgbClr val="003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8704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75A"/>
                </a:solidFill>
                <a:latin typeface="Calibri"/>
              </a:rPr>
              <a:t>APRICA solves all of this — one platform, four languages, infinite possibilities.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AB00"/>
                </a:solidFill>
                <a:latin typeface="Calibri"/>
              </a:rPr>
              <a:t>APRICA — Africa's First Comprehensive AI Language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371600"/>
            <a:ext cx="2651760" cy="2651760"/>
          </a:xfrm>
          <a:prstGeom prst="rect">
            <a:avLst/>
          </a:prstGeom>
          <a:solidFill>
            <a:srgbClr val="004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463040"/>
            <a:ext cx="2651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🌍
APRICA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2103120" cy="822960"/>
          </a:xfrm>
          <a:prstGeom prst="rect">
            <a:avLst/>
          </a:prstGeom>
          <a:solidFill>
            <a:srgbClr val="151515"/>
          </a:solidFill>
          <a:ln w="1270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🔤 Text
Translation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468880"/>
            <a:ext cx="2103120" cy="822960"/>
          </a:xfrm>
          <a:prstGeom prst="rect">
            <a:avLst/>
          </a:prstGeom>
          <a:solidFill>
            <a:srgbClr val="151515"/>
          </a:solidFill>
          <a:ln w="1270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5146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🌐 Website
Translation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474720"/>
            <a:ext cx="2103120" cy="822960"/>
          </a:xfrm>
          <a:prstGeom prst="rect">
            <a:avLst/>
          </a:prstGeom>
          <a:solidFill>
            <a:srgbClr val="151515"/>
          </a:solidFill>
          <a:ln w="1270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520439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📄 Document
Translation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480560"/>
            <a:ext cx="2103120" cy="822960"/>
          </a:xfrm>
          <a:prstGeom prst="rect">
            <a:avLst/>
          </a:prstGeom>
          <a:solidFill>
            <a:srgbClr val="151515"/>
          </a:solidFill>
          <a:ln w="1270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5262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📚 Book
Translation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1463040"/>
            <a:ext cx="2103120" cy="822960"/>
          </a:xfrm>
          <a:prstGeom prst="rect">
            <a:avLst/>
          </a:prstGeom>
          <a:solidFill>
            <a:srgbClr val="151515"/>
          </a:solidFill>
          <a:ln w="1270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15087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💬 AI
Chatbot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2468880"/>
            <a:ext cx="2103120" cy="822960"/>
          </a:xfrm>
          <a:prstGeom prst="rect">
            <a:avLst/>
          </a:prstGeom>
          <a:solidFill>
            <a:srgbClr val="151515"/>
          </a:solidFill>
          <a:ln w="1270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25146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🔊 Text
to Voice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3474720"/>
            <a:ext cx="2103120" cy="822960"/>
          </a:xfrm>
          <a:prstGeom prst="rect">
            <a:avLst/>
          </a:prstGeom>
          <a:solidFill>
            <a:srgbClr val="151515"/>
          </a:solidFill>
          <a:ln w="1270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3520439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🎙️ Voice
to Text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4480560"/>
            <a:ext cx="2103120" cy="822960"/>
          </a:xfrm>
          <a:prstGeom prst="rect">
            <a:avLst/>
          </a:prstGeom>
          <a:solidFill>
            <a:srgbClr val="151515"/>
          </a:solidFill>
          <a:ln w="1270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45262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🎬 Video
Translation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AB00"/>
                </a:solidFill>
                <a:latin typeface="Calibri"/>
              </a:rPr>
              <a:t>8 Powerful AI Features · 4 African Languages · 8 Voice Profiles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Platform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AB00"/>
                </a:solidFill>
                <a:latin typeface="Calibri"/>
              </a:rPr>
              <a:t>Comprehensive tools for every African language need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2743200" cy="2148840"/>
          </a:xfrm>
          <a:prstGeom prst="rect">
            <a:avLst/>
          </a:prstGeom>
          <a:solidFill>
            <a:srgbClr val="181818"/>
          </a:solidFill>
          <a:ln w="12700">
            <a:solidFill>
              <a:srgbClr val="005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2743200" cy="54864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6002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Text Translation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2402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Instant translation to Yoruba, Hausa, Swahili, Nigerian Pidgin from any language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463040"/>
            <a:ext cx="2743200" cy="2148840"/>
          </a:xfrm>
          <a:prstGeom prst="rect">
            <a:avLst/>
          </a:prstGeom>
          <a:solidFill>
            <a:srgbClr val="181818"/>
          </a:solidFill>
          <a:ln w="12700">
            <a:solidFill>
              <a:srgbClr val="005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463040"/>
            <a:ext cx="2743200" cy="54864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6002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Website Translator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2402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Full website content translation via URL — no code needed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59" y="1463040"/>
            <a:ext cx="2743200" cy="2148840"/>
          </a:xfrm>
          <a:prstGeom prst="rect">
            <a:avLst/>
          </a:prstGeom>
          <a:solidFill>
            <a:srgbClr val="181818"/>
          </a:solidFill>
          <a:ln w="12700">
            <a:solidFill>
              <a:srgbClr val="005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59" y="1463040"/>
            <a:ext cx="2743200" cy="54864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199" y="16002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7999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Document Translator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199" y="22402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PDF, Word &amp; TXT files with translation + AI summarization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19" y="1463040"/>
            <a:ext cx="2743200" cy="2148840"/>
          </a:xfrm>
          <a:prstGeom prst="rect">
            <a:avLst/>
          </a:prstGeom>
          <a:solidFill>
            <a:srgbClr val="181818"/>
          </a:solidFill>
          <a:ln w="12700">
            <a:solidFill>
              <a:srgbClr val="005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19" y="1463040"/>
            <a:ext cx="2743200" cy="54864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59" y="16002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59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AI Chatbot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59" y="22402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GPT-4o powered chatbot responding natively in African languages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794760"/>
            <a:ext cx="2743200" cy="2148840"/>
          </a:xfrm>
          <a:prstGeom prst="rect">
            <a:avLst/>
          </a:prstGeom>
          <a:solidFill>
            <a:srgbClr val="181818"/>
          </a:solidFill>
          <a:ln w="12700">
            <a:solidFill>
              <a:srgbClr val="005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794760"/>
            <a:ext cx="2743200" cy="54864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79" y="393192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3977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Text to Voice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457200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8 voice profiles: Nigerian, Kenyan, British, American accents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3794760"/>
            <a:ext cx="2743200" cy="2148840"/>
          </a:xfrm>
          <a:prstGeom prst="rect">
            <a:avLst/>
          </a:prstGeom>
          <a:solidFill>
            <a:srgbClr val="181818"/>
          </a:solidFill>
          <a:ln w="12700">
            <a:solidFill>
              <a:srgbClr val="005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0" y="3794760"/>
            <a:ext cx="2743200" cy="54864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91840" y="393192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🎙️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77639" y="3977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Voice to Text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457200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Record or upload audio — get instant transcription + translation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59" y="3794760"/>
            <a:ext cx="2743200" cy="2148840"/>
          </a:xfrm>
          <a:prstGeom prst="rect">
            <a:avLst/>
          </a:prstGeom>
          <a:solidFill>
            <a:srgbClr val="181818"/>
          </a:solidFill>
          <a:ln w="12700">
            <a:solidFill>
              <a:srgbClr val="005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80759" y="3794760"/>
            <a:ext cx="2743200" cy="54864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199" y="393192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7999" y="3977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Video Translation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199" y="457200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Full video dubbing with translated African voiceover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61119" y="3794760"/>
            <a:ext cx="2743200" cy="2148840"/>
          </a:xfrm>
          <a:prstGeom prst="rect">
            <a:avLst/>
          </a:prstGeom>
          <a:solidFill>
            <a:srgbClr val="181818"/>
          </a:solidFill>
          <a:ln w="12700">
            <a:solidFill>
              <a:srgbClr val="005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61119" y="3794760"/>
            <a:ext cx="2743200" cy="54864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52559" y="393192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38359" y="3977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Book Translator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59" y="457200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Translate &amp; summarize entire books with AI insight extraction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Languages &amp; Voices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AB00"/>
                </a:solidFill>
                <a:latin typeface="Calibri"/>
              </a:rPr>
              <a:t>Authentic African accents for genuine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75A"/>
                </a:solidFill>
                <a:latin typeface="Calibri"/>
              </a:rPr>
              <a:t>🌍 SUPPORTED LANGUAGES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303520" cy="841248"/>
          </a:xfrm>
          <a:prstGeom prst="rect">
            <a:avLst/>
          </a:prstGeom>
          <a:solidFill>
            <a:srgbClr val="151515"/>
          </a:solidFill>
          <a:ln w="12700">
            <a:solidFill>
              <a:srgbClr val="005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🇳🇬 Yoruba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875A"/>
                </a:solidFill>
                <a:latin typeface="Calibri"/>
              </a:rPr>
              <a:t>~45M speakers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Southwest Nigeria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965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[yo]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88920"/>
            <a:ext cx="5303520" cy="841248"/>
          </a:xfrm>
          <a:prstGeom prst="rect">
            <a:avLst/>
          </a:prstGeom>
          <a:solidFill>
            <a:srgbClr val="151515"/>
          </a:solidFill>
          <a:ln w="12700">
            <a:solidFill>
              <a:srgbClr val="005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80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🇳🇬 Hausa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46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875A"/>
                </a:solidFill>
                <a:latin typeface="Calibri"/>
              </a:rPr>
              <a:t>~70M speakers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246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Northern Nigeria &amp; Niger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92607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[ha]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49039"/>
            <a:ext cx="5303520" cy="841248"/>
          </a:xfrm>
          <a:prstGeom prst="rect">
            <a:avLst/>
          </a:prstGeom>
          <a:solidFill>
            <a:srgbClr val="151515"/>
          </a:solidFill>
          <a:ln w="12700">
            <a:solidFill>
              <a:srgbClr val="005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8404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🇰🇪 Swahili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875A"/>
                </a:solidFill>
                <a:latin typeface="Calibri"/>
              </a:rPr>
              <a:t>~200M speakers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4206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East Africa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8862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[sw]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709160"/>
            <a:ext cx="5303520" cy="841248"/>
          </a:xfrm>
          <a:prstGeom prst="rect">
            <a:avLst/>
          </a:prstGeom>
          <a:solidFill>
            <a:srgbClr val="151515"/>
          </a:solidFill>
          <a:ln w="12700">
            <a:solidFill>
              <a:srgbClr val="005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800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🇳🇬 Nigerian Pidgin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166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875A"/>
                </a:solidFill>
                <a:latin typeface="Calibri"/>
              </a:rPr>
              <a:t>~75M speakers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5166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Nationwide Nigeria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846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[pcm]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75A"/>
                </a:solidFill>
                <a:latin typeface="Calibri"/>
              </a:rPr>
              <a:t>🔊 VOICE PROFILES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1828800"/>
            <a:ext cx="2560320" cy="841248"/>
          </a:xfrm>
          <a:prstGeom prst="rect">
            <a:avLst/>
          </a:prstGeom>
          <a:solidFill>
            <a:srgbClr val="15151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👩🏾 Nigerian Female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286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Nigerian Accent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1828800"/>
            <a:ext cx="2560320" cy="841248"/>
          </a:xfrm>
          <a:prstGeom prst="rect">
            <a:avLst/>
          </a:prstGeom>
          <a:solidFill>
            <a:srgbClr val="15151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👨🏾 Nigerian Male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2286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Nigerian Accent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2788920"/>
            <a:ext cx="2560320" cy="841248"/>
          </a:xfrm>
          <a:prstGeom prst="rect">
            <a:avLst/>
          </a:prstGeom>
          <a:solidFill>
            <a:srgbClr val="15151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2880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👩🏿 Kenyan Female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2461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Kenyan Accent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2788920"/>
            <a:ext cx="2560320" cy="841248"/>
          </a:xfrm>
          <a:prstGeom prst="rect">
            <a:avLst/>
          </a:prstGeom>
          <a:solidFill>
            <a:srgbClr val="15151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440" y="2880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👨🏿 Kenyan Male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32461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Kenyan Accent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3749039"/>
            <a:ext cx="2560320" cy="841248"/>
          </a:xfrm>
          <a:prstGeom prst="rect">
            <a:avLst/>
          </a:prstGeom>
          <a:solidFill>
            <a:srgbClr val="15151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384047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👩🏻 British Female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4206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British Accent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0" y="3749039"/>
            <a:ext cx="2560320" cy="841248"/>
          </a:xfrm>
          <a:prstGeom prst="rect">
            <a:avLst/>
          </a:prstGeom>
          <a:solidFill>
            <a:srgbClr val="15151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35440" y="384047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👨🏻 British Male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4206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British Accent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4709160"/>
            <a:ext cx="2560320" cy="841248"/>
          </a:xfrm>
          <a:prstGeom prst="rect">
            <a:avLst/>
          </a:prstGeom>
          <a:solidFill>
            <a:srgbClr val="15151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4800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👩🏼 American Female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5166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American Accent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0" y="4709160"/>
            <a:ext cx="2560320" cy="841248"/>
          </a:xfrm>
          <a:prstGeom prst="rect">
            <a:avLst/>
          </a:prstGeom>
          <a:solidFill>
            <a:srgbClr val="15151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35440" y="4800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👨🏼 American Male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5166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American Accent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ElevenLabs multilingual_v2 model · OpenAI TTS fallback · Whisper transcription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Why APRICA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AB00"/>
                </a:solidFill>
                <a:latin typeface="Calibri"/>
              </a:rPr>
              <a:t>The strategic advantages that set us apart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577840" cy="1463040"/>
          </a:xfrm>
          <a:prstGeom prst="rect">
            <a:avLst/>
          </a:prstGeom>
          <a:solidFill>
            <a:srgbClr val="0D2014"/>
          </a:solidFill>
          <a:ln w="12700">
            <a:solidFill>
              <a:srgbClr val="00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" cy="1463040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0020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First-Mover Advantage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1168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No other platform offers all 8 AI features for these 4 African languages in one place. APRICA owns this space.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577840" cy="1463040"/>
          </a:xfrm>
          <a:prstGeom prst="rect">
            <a:avLst/>
          </a:prstGeom>
          <a:solidFill>
            <a:srgbClr val="0D2014"/>
          </a:solidFill>
          <a:ln w="12700">
            <a:solidFill>
              <a:srgbClr val="00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4864" cy="1463040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160020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Massive 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01168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390M+ speakers across our 4 target languages. Africa's internet population is growing 10% YoY.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5577840" cy="1463040"/>
          </a:xfrm>
          <a:prstGeom prst="rect">
            <a:avLst/>
          </a:prstGeom>
          <a:solidFill>
            <a:srgbClr val="0D2014"/>
          </a:solidFill>
          <a:ln w="12700">
            <a:solidFill>
              <a:srgbClr val="00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017520"/>
            <a:ext cx="54864" cy="1463040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9183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20040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World-Class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611879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Built on GPT-4o (most advanced AI model) + Whisper + ElevenLabs — technology that rivals any global platform.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017520"/>
            <a:ext cx="5577840" cy="1463040"/>
          </a:xfrm>
          <a:prstGeom prst="rect">
            <a:avLst/>
          </a:prstGeom>
          <a:solidFill>
            <a:srgbClr val="0D2014"/>
          </a:solidFill>
          <a:ln w="12700">
            <a:solidFill>
              <a:srgbClr val="00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017520"/>
            <a:ext cx="54864" cy="1463040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29183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320040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No Infrastructure Needed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611879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Cloud-based APIs mean zero hardware investment. Scales instantly to millions of users.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617720"/>
            <a:ext cx="5577840" cy="1463040"/>
          </a:xfrm>
          <a:prstGeom prst="rect">
            <a:avLst/>
          </a:prstGeom>
          <a:solidFill>
            <a:srgbClr val="0D2014"/>
          </a:solidFill>
          <a:ln w="12700">
            <a:solidFill>
              <a:srgbClr val="00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617720"/>
            <a:ext cx="54864" cy="1463040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892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80060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Multiple Revenue Streams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21208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API subscriptions, enterprise licensing, freemium model, government contracts, education sector.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4617720"/>
            <a:ext cx="5577840" cy="1463040"/>
          </a:xfrm>
          <a:prstGeom prst="rect">
            <a:avLst/>
          </a:prstGeom>
          <a:solidFill>
            <a:srgbClr val="0D2014"/>
          </a:solidFill>
          <a:ln w="12700">
            <a:solidFill>
              <a:srgbClr val="00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4617720"/>
            <a:ext cx="54864" cy="1463040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892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480060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Cultural Authenticity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521208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Nigerian Pidgin support — something even Google Translate doesn't have. Deep cultural resonance.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309360"/>
            <a:ext cx="11247120" cy="4572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Strengths &amp; Considerations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AB00"/>
                </a:solidFill>
                <a:latin typeface="Calibri"/>
              </a:rPr>
              <a:t>Honest analysis of the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486400" cy="411480"/>
          </a:xfrm>
          <a:prstGeom prst="rect">
            <a:avLst/>
          </a:prstGeom>
          <a:solidFill>
            <a:srgbClr val="00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533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✅ STRENGTHS  (Major Focus)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5440680" cy="411480"/>
          </a:xfrm>
          <a:prstGeom prst="rect">
            <a:avLst/>
          </a:prstGeom>
          <a:solidFill>
            <a:srgbClr val="0A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29384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FFCC"/>
                </a:solidFill>
                <a:latin typeface="Calibri"/>
              </a:rPr>
              <a:t>▶  All 8 features in ONE unified 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59152"/>
            <a:ext cx="5440680" cy="411480"/>
          </a:xfrm>
          <a:prstGeom prst="rect">
            <a:avLst/>
          </a:prstGeom>
          <a:solidFill>
            <a:srgbClr val="0A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414016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FFCC"/>
                </a:solidFill>
                <a:latin typeface="Calibri"/>
              </a:rPr>
              <a:t>▶  Supports Nigerian Pidgin — unique in the market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43784"/>
            <a:ext cx="5440680" cy="411480"/>
          </a:xfrm>
          <a:prstGeom prst="rect">
            <a:avLst/>
          </a:prstGeom>
          <a:solidFill>
            <a:srgbClr val="0A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898648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FFCC"/>
                </a:solidFill>
                <a:latin typeface="Calibri"/>
              </a:rPr>
              <a:t>▶  8 voice profiles covering major accents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28415"/>
            <a:ext cx="5440680" cy="411480"/>
          </a:xfrm>
          <a:prstGeom prst="rect">
            <a:avLst/>
          </a:prstGeom>
          <a:solidFill>
            <a:srgbClr val="0A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383279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FFCC"/>
                </a:solidFill>
                <a:latin typeface="Calibri"/>
              </a:rPr>
              <a:t>▶  No-code required — browser-based, zero setup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13048"/>
            <a:ext cx="5440680" cy="411480"/>
          </a:xfrm>
          <a:prstGeom prst="rect">
            <a:avLst/>
          </a:prstGeom>
          <a:solidFill>
            <a:srgbClr val="0A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867911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FFCC"/>
                </a:solidFill>
                <a:latin typeface="Calibri"/>
              </a:rPr>
              <a:t>▶  Real-time translation powered by GPT-4o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97680"/>
            <a:ext cx="5440680" cy="411480"/>
          </a:xfrm>
          <a:prstGeom prst="rect">
            <a:avLst/>
          </a:prstGeom>
          <a:solidFill>
            <a:srgbClr val="0A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352544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FFCC"/>
                </a:solidFill>
                <a:latin typeface="Calibri"/>
              </a:rPr>
              <a:t>▶  Handles documents, URLs, audio AND video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782312"/>
            <a:ext cx="5440680" cy="411480"/>
          </a:xfrm>
          <a:prstGeom prst="rect">
            <a:avLst/>
          </a:prstGeom>
          <a:solidFill>
            <a:srgbClr val="0A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837176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FFCC"/>
                </a:solidFill>
                <a:latin typeface="Calibri"/>
              </a:rPr>
              <a:t>▶  Scales from individual to enterprise instantly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266944"/>
            <a:ext cx="5440680" cy="411480"/>
          </a:xfrm>
          <a:prstGeom prst="rect">
            <a:avLst/>
          </a:prstGeom>
          <a:solidFill>
            <a:srgbClr val="0A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321807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FFCC"/>
                </a:solidFill>
                <a:latin typeface="Calibri"/>
              </a:rPr>
              <a:t>▶  African cultural context built into the 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325880"/>
            <a:ext cx="5486400" cy="411480"/>
          </a:xfrm>
          <a:prstGeom prst="rect">
            <a:avLst/>
          </a:prstGeom>
          <a:solidFill>
            <a:srgbClr val="30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3533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⚠️  CONSIDERATIONS  (Manageable)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1874519"/>
            <a:ext cx="5440680" cy="1005840"/>
          </a:xfrm>
          <a:prstGeom prst="rect">
            <a:avLst/>
          </a:prstGeom>
          <a:solidFill>
            <a:srgbClr val="18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19476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CC55"/>
                </a:solidFill>
                <a:latin typeface="Calibri"/>
              </a:rPr>
              <a:t>⚠ API costs scale with usage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31343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BBBBB"/>
                </a:solidFill>
                <a:latin typeface="Calibri"/>
              </a:rPr>
              <a:t>→ Mitigated by usage caps &amp; tiered pricing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971800"/>
            <a:ext cx="5440680" cy="1005840"/>
          </a:xfrm>
          <a:prstGeom prst="rect">
            <a:avLst/>
          </a:prstGeom>
          <a:solidFill>
            <a:srgbClr val="18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304495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CC55"/>
                </a:solidFill>
                <a:latin typeface="Calibri"/>
              </a:rPr>
              <a:t>⚠ Nigerian Pidgin accuracy varies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41071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BBBBB"/>
                </a:solidFill>
                <a:latin typeface="Calibri"/>
              </a:rPr>
              <a:t>→ Continuously improving with GPT-4o fine-tuning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069079"/>
            <a:ext cx="5440680" cy="1005840"/>
          </a:xfrm>
          <a:prstGeom prst="rect">
            <a:avLst/>
          </a:prstGeom>
          <a:solidFill>
            <a:srgbClr val="18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4142231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CC55"/>
                </a:solidFill>
                <a:latin typeface="Calibri"/>
              </a:rPr>
              <a:t>⚠ Video processing is slow (1-3 min)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50799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BBBBB"/>
                </a:solidFill>
                <a:latin typeface="Calibri"/>
              </a:rPr>
              <a:t>→ Async processing + progress indicators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5166359"/>
            <a:ext cx="5440680" cy="1005840"/>
          </a:xfrm>
          <a:prstGeom prst="rect">
            <a:avLst/>
          </a:prstGeom>
          <a:solidFill>
            <a:srgbClr val="18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52395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CC55"/>
                </a:solidFill>
                <a:latin typeface="Calibri"/>
              </a:rPr>
              <a:t>⚠ Internet required (cloud-based)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605271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BBBBB"/>
                </a:solidFill>
                <a:latin typeface="Calibri"/>
              </a:rPr>
              <a:t>→ Offline mode planned for v2.0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AB00"/>
                </a:solidFill>
                <a:latin typeface="Calibri"/>
              </a:rPr>
              <a:t>Enterprise-grade AI infrastructure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713232"/>
          </a:xfrm>
          <a:prstGeom prst="rect">
            <a:avLst/>
          </a:prstGeom>
          <a:solidFill>
            <a:srgbClr val="004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B00"/>
                </a:solidFill>
                <a:latin typeface="Calibr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517904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Browser-Based · HTML5 · CSS3 · Vanilla JS · No framework needed · Zero install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67128"/>
            <a:ext cx="11247120" cy="713232"/>
          </a:xfrm>
          <a:prstGeom prst="rect">
            <a:avLst/>
          </a:prstGeom>
          <a:solidFill>
            <a:srgbClr val="00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25856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B00"/>
                </a:solidFill>
                <a:latin typeface="Calibri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313432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Python Flask · REST API · CORS enabled · Multi-feature routing · File handling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62656"/>
            <a:ext cx="11247120" cy="713232"/>
          </a:xfrm>
          <a:prstGeom prst="rect">
            <a:avLst/>
          </a:prstGeom>
          <a:solidFill>
            <a:srgbClr val="33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05409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B00"/>
                </a:solidFill>
                <a:latin typeface="Calibri"/>
              </a:rPr>
              <a:t>AI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1089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OpenAI GPT-4o (translation &amp; chat) · Whisper (transcription) · OpenAI TTS (voice)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58183"/>
            <a:ext cx="11247120" cy="713232"/>
          </a:xfrm>
          <a:prstGeom prst="rect">
            <a:avLst/>
          </a:prstGeom>
          <a:solidFill>
            <a:srgbClr val="44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849623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B00"/>
                </a:solidFill>
                <a:latin typeface="Calibri"/>
              </a:rPr>
              <a:t>VOICE SYNTHESIS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904487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ElevenLabs Multilingual v2 · 8 accent profiles · Nigerian, Kenyan, British, American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53712"/>
            <a:ext cx="11247120" cy="713232"/>
          </a:xfrm>
          <a:prstGeom prst="rect">
            <a:avLst/>
          </a:prstGeom>
          <a:solidFill>
            <a:srgbClr val="1A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64515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B00"/>
                </a:solidFill>
                <a:latin typeface="Calibri"/>
              </a:rPr>
              <a:t>TRANSLATION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700016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Google Cloud Translate (Yoruba/Hausa/Swahili) · GPT-4o (Nigerian Pidgin)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49240"/>
            <a:ext cx="11247120" cy="713232"/>
          </a:xfrm>
          <a:prstGeom prst="rect">
            <a:avLst/>
          </a:prstGeom>
          <a:solidFill>
            <a:srgbClr val="33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44067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B00"/>
                </a:solidFill>
                <a:latin typeface="Calibri"/>
              </a:rPr>
              <a:t>DOCUMENT/VIDEO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5495544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PyPDF2 · python-docx · MoviePy · BeautifulSoup · FFmpeg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BBBBB"/>
                </a:solidFill>
                <a:latin typeface="Calibri"/>
              </a:rPr>
              <a:t>All APIs are production-ready, well-documented, and globally reliable.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AB00"/>
                </a:solidFill>
                <a:latin typeface="Calibri"/>
              </a:rPr>
              <a:t>Africa's AI language market is untapped — and growing fast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606040" cy="1920240"/>
          </a:xfrm>
          <a:prstGeom prst="rect">
            <a:avLst/>
          </a:prstGeom>
          <a:solidFill>
            <a:srgbClr val="0D2014"/>
          </a:solidFill>
          <a:ln w="12700">
            <a:solidFill>
              <a:srgbClr val="00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875A"/>
                </a:solidFill>
                <a:latin typeface="Calibri"/>
              </a:rPr>
              <a:t>390M+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2316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Combined Speakers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BBBB"/>
                </a:solidFill>
                <a:latin typeface="Calibri"/>
              </a:rPr>
              <a:t>Across our 4 target languages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417320"/>
            <a:ext cx="2606040" cy="1920240"/>
          </a:xfrm>
          <a:prstGeom prst="rect">
            <a:avLst/>
          </a:prstGeom>
          <a:solidFill>
            <a:srgbClr val="0D2014"/>
          </a:solidFill>
          <a:ln w="12700">
            <a:solidFill>
              <a:srgbClr val="00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50876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875A"/>
                </a:solidFill>
                <a:latin typeface="Calibri"/>
              </a:rPr>
              <a:t>$2.1B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42316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African AI Market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8346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BBBB"/>
                </a:solidFill>
                <a:latin typeface="Calibri"/>
              </a:rPr>
              <a:t>Projected by 2028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417320"/>
            <a:ext cx="2606040" cy="1920240"/>
          </a:xfrm>
          <a:prstGeom prst="rect">
            <a:avLst/>
          </a:prstGeom>
          <a:solidFill>
            <a:srgbClr val="0D2014"/>
          </a:solidFill>
          <a:ln w="12700">
            <a:solidFill>
              <a:srgbClr val="00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50876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875A"/>
                </a:solidFill>
                <a:latin typeface="Calibri"/>
              </a:rPr>
              <a:t>10%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42316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Annual Growth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8346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BBBB"/>
                </a:solidFill>
                <a:latin typeface="Calibri"/>
              </a:rPr>
              <a:t>Internet adoption in Africa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1417320"/>
            <a:ext cx="2606040" cy="1920240"/>
          </a:xfrm>
          <a:prstGeom prst="rect">
            <a:avLst/>
          </a:prstGeom>
          <a:solidFill>
            <a:srgbClr val="0D2014"/>
          </a:solidFill>
          <a:ln w="12700">
            <a:solidFill>
              <a:srgbClr val="00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150876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875A"/>
                </a:solidFill>
                <a:latin typeface="Calibri"/>
              </a:rPr>
              <a:t>54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42316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African Countries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8346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BBBB"/>
                </a:solidFill>
                <a:latin typeface="Calibri"/>
              </a:rPr>
              <a:t>Potential expansion markets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657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75A"/>
                </a:solidFill>
                <a:latin typeface="Calibri"/>
              </a:rPr>
              <a:t>🎯 TARGET SECTORS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60520"/>
            <a:ext cx="3566160" cy="914400"/>
          </a:xfrm>
          <a:prstGeom prst="rect">
            <a:avLst/>
          </a:prstGeom>
          <a:solidFill>
            <a:srgbClr val="141414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25195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🏢 Enterprise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63600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Corporate communications, HR, internal docs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4160520"/>
            <a:ext cx="3566160" cy="914400"/>
          </a:xfrm>
          <a:prstGeom prst="rect">
            <a:avLst/>
          </a:prstGeom>
          <a:solidFill>
            <a:srgbClr val="141414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425195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🏛 Government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463600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Policy translation, citizen services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5212079"/>
            <a:ext cx="3566160" cy="914400"/>
          </a:xfrm>
          <a:prstGeom prst="rect">
            <a:avLst/>
          </a:prstGeom>
          <a:solidFill>
            <a:srgbClr val="141414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530351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📚 Education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5687567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Curriculum translation, e-learning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212079"/>
            <a:ext cx="3566160" cy="914400"/>
          </a:xfrm>
          <a:prstGeom prst="rect">
            <a:avLst/>
          </a:prstGeom>
          <a:solidFill>
            <a:srgbClr val="141414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30351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📺 Media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687567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Content localization, video dubbing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6263640"/>
            <a:ext cx="3566160" cy="914400"/>
          </a:xfrm>
          <a:prstGeom prst="rect">
            <a:avLst/>
          </a:prstGeom>
          <a:solidFill>
            <a:srgbClr val="141414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3400" y="635507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🏥 Healthcare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6739127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Patient communication, medical translation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79" y="6263640"/>
            <a:ext cx="3566160" cy="914400"/>
          </a:xfrm>
          <a:prstGeom prst="rect">
            <a:avLst/>
          </a:prstGeom>
          <a:solidFill>
            <a:srgbClr val="141414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92440" y="635507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💼 Legal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2440" y="6739127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Contract translation, court documents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How APRICA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AB00"/>
                </a:solidFill>
                <a:latin typeface="Calibri"/>
              </a:rPr>
              <a:t>Simple, powerful, instantaneous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200400" cy="2560320"/>
          </a:xfrm>
          <a:prstGeom prst="rect">
            <a:avLst/>
          </a:prstGeom>
          <a:solidFill>
            <a:srgbClr val="0D2014"/>
          </a:solidFill>
          <a:ln w="12700">
            <a:solidFill>
              <a:srgbClr val="00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3200400" cy="502920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1.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2834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BBBBB"/>
                </a:solidFill>
                <a:latin typeface="Calibri"/>
              </a:rPr>
              <a:t>Text / Audio
Document / Video
URL / 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37744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875A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463040"/>
            <a:ext cx="3200400" cy="2560320"/>
          </a:xfrm>
          <a:prstGeom prst="rect">
            <a:avLst/>
          </a:prstGeom>
          <a:solidFill>
            <a:srgbClr val="0D2014"/>
          </a:solidFill>
          <a:ln w="12700">
            <a:solidFill>
              <a:srgbClr val="00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463040"/>
            <a:ext cx="3200400" cy="502920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508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2. AI 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03120"/>
            <a:ext cx="2834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BBBBB"/>
                </a:solidFill>
                <a:latin typeface="Calibri"/>
              </a:rPr>
              <a:t>GPT-4o translates
Whisper transcribes
ElevenLabs speaks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37744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875A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463040"/>
            <a:ext cx="3200400" cy="2560320"/>
          </a:xfrm>
          <a:prstGeom prst="rect">
            <a:avLst/>
          </a:prstGeom>
          <a:solidFill>
            <a:srgbClr val="0D2014"/>
          </a:solidFill>
          <a:ln w="12700">
            <a:solidFill>
              <a:srgbClr val="00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463040"/>
            <a:ext cx="3200400" cy="502920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1508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3.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103120"/>
            <a:ext cx="2834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BBBBB"/>
                </a:solidFill>
                <a:latin typeface="Calibri"/>
              </a:rPr>
              <a:t>Translated text
Audio playback
Translated video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75A"/>
                </a:solidFill>
                <a:latin typeface="Calibri"/>
              </a:rPr>
              <a:t>LIVE USE CASES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029200"/>
            <a:ext cx="5486400" cy="594360"/>
          </a:xfrm>
          <a:prstGeom prst="rect">
            <a:avLst/>
          </a:prstGeom>
          <a:solidFill>
            <a:srgbClr val="141414"/>
          </a:solidFill>
          <a:ln w="12700">
            <a:solidFill>
              <a:srgbClr val="005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13892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🔤 English news → Yoruba in 2 seconds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5029200"/>
            <a:ext cx="5486400" cy="594360"/>
          </a:xfrm>
          <a:prstGeom prst="rect">
            <a:avLst/>
          </a:prstGeom>
          <a:solidFill>
            <a:srgbClr val="141414"/>
          </a:solidFill>
          <a:ln w="12700">
            <a:solidFill>
              <a:srgbClr val="005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513892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📄 Upload English PDF → Hausa summary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760720"/>
            <a:ext cx="5486400" cy="594360"/>
          </a:xfrm>
          <a:prstGeom prst="rect">
            <a:avLst/>
          </a:prstGeom>
          <a:solidFill>
            <a:srgbClr val="141414"/>
          </a:solidFill>
          <a:ln w="12700">
            <a:solidFill>
              <a:srgbClr val="005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87044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🎙️ Record voice → Swahili transcript + translation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5760720"/>
            <a:ext cx="5486400" cy="594360"/>
          </a:xfrm>
          <a:prstGeom prst="rect">
            <a:avLst/>
          </a:prstGeom>
          <a:solidFill>
            <a:srgbClr val="141414"/>
          </a:solidFill>
          <a:ln w="12700">
            <a:solidFill>
              <a:srgbClr val="005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87044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🎬 English YouTube video → Nigerian Pidgin dubbing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Growth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AB00"/>
                </a:solidFill>
                <a:latin typeface="Calibri"/>
              </a:rPr>
              <a:t>From MVP to Africa's leading language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566160" cy="5029200"/>
          </a:xfrm>
          <a:prstGeom prst="rect">
            <a:avLst/>
          </a:prstGeom>
          <a:solidFill>
            <a:srgbClr val="0D0D0D"/>
          </a:solidFill>
          <a:ln w="12700">
            <a:solidFill>
              <a:srgbClr val="00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566160" cy="640080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99032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Q2 2025
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48132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Phase 1: MVP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48840"/>
            <a:ext cx="3200400" cy="59436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58568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▶ 4 core African languages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26080"/>
            <a:ext cx="3200400" cy="59436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35808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▶ 8 AI features live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703320"/>
            <a:ext cx="3200400" cy="59436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813048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▶ Beta user testing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480560"/>
            <a:ext cx="3200400" cy="59436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590288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▶ API key integrations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371600"/>
            <a:ext cx="3566160" cy="5029200"/>
          </a:xfrm>
          <a:prstGeom prst="rect">
            <a:avLst/>
          </a:prstGeom>
          <a:solidFill>
            <a:srgbClr val="0D0D0D"/>
          </a:solidFill>
          <a:ln w="12700">
            <a:solidFill>
              <a:srgbClr val="00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1371600"/>
            <a:ext cx="3566160" cy="640080"/>
          </a:xfrm>
          <a:prstGeom prst="rect">
            <a:avLst/>
          </a:prstGeom>
          <a:solidFill>
            <a:srgbClr val="00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1399032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Q3-Q4 2025
GROW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148132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Phase 2: Scale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2148840"/>
            <a:ext cx="3200400" cy="59436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2258568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▶ Mobile app (iOS &amp; Android)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2926080"/>
            <a:ext cx="3200400" cy="59436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3035808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▶ 10 additional languages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3703320"/>
            <a:ext cx="3200400" cy="59436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3813048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▶ Enterprise API launch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4480560"/>
            <a:ext cx="3200400" cy="59436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4590288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▶ Partnership with telecoms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1371600"/>
            <a:ext cx="3566160" cy="5029200"/>
          </a:xfrm>
          <a:prstGeom prst="rect">
            <a:avLst/>
          </a:prstGeom>
          <a:solidFill>
            <a:srgbClr val="0D0D0D"/>
          </a:solidFill>
          <a:ln w="12700">
            <a:solidFill>
              <a:srgbClr val="552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1371600"/>
            <a:ext cx="3566160" cy="640080"/>
          </a:xfrm>
          <a:prstGeom prst="rect">
            <a:avLst/>
          </a:prstGeom>
          <a:solidFill>
            <a:srgbClr val="552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1399032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2026
EXPAND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148132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Phase 3: Dominate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2148840"/>
            <a:ext cx="3200400" cy="59436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8200" y="2258568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▶ 50+ African languages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2926080"/>
            <a:ext cx="3200400" cy="59436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58200" y="3035808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▶ AI model fine-tuning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21040" y="3703320"/>
            <a:ext cx="3200400" cy="59436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58200" y="3813048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▶ Government contracts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1040" y="4480560"/>
            <a:ext cx="3200400" cy="59436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58200" y="4590288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▶ Pan-African expansion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34088" y="0"/>
            <a:ext cx="54864" cy="6858000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54864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Africa's Voice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875A"/>
                </a:solidFill>
                <a:latin typeface="Calibri"/>
              </a:rPr>
              <a:t>Deserves to be Heard.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FAB00"/>
                </a:solidFill>
                <a:latin typeface="Calibri"/>
              </a:rPr>
              <a:t>APRICA makes that happen —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480560"/>
            <a:ext cx="2834640" cy="914400"/>
          </a:xfrm>
          <a:prstGeom prst="rect">
            <a:avLst/>
          </a:prstGeom>
          <a:solidFill>
            <a:srgbClr val="004422"/>
          </a:solidFill>
          <a:ln w="12700">
            <a:solidFill>
              <a:srgbClr val="00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45262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🚀 Launch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937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BBBB"/>
                </a:solidFill>
                <a:latin typeface="Calibri"/>
              </a:rPr>
              <a:t>http://localhost:5000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4480560"/>
            <a:ext cx="2834640" cy="914400"/>
          </a:xfrm>
          <a:prstGeom prst="rect">
            <a:avLst/>
          </a:prstGeom>
          <a:solidFill>
            <a:srgbClr val="004422"/>
          </a:solidFill>
          <a:ln w="12700">
            <a:solidFill>
              <a:srgbClr val="00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45262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📧 Request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937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BBBB"/>
                </a:solidFill>
                <a:latin typeface="Calibri"/>
              </a:rPr>
              <a:t>Contact team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4480560"/>
            <a:ext cx="2834640" cy="914400"/>
          </a:xfrm>
          <a:prstGeom prst="rect">
            <a:avLst/>
          </a:prstGeom>
          <a:solidFill>
            <a:srgbClr val="004422"/>
          </a:solidFill>
          <a:ln w="12700">
            <a:solidFill>
              <a:srgbClr val="00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45262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🤝 Partnership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937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BBBB"/>
                </a:solidFill>
                <a:latin typeface="Calibri"/>
              </a:rPr>
              <a:t>Enterprise inquiry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03504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44"/>
                </a:solidFill>
                <a:latin typeface="Calibri"/>
              </a:rPr>
              <a:t>Built with OpenAI GPT-4o · ElevenLabs · Google Cloud · Python Flask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